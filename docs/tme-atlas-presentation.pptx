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47088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TME ATLAS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777240" y="2980944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coverage map of the tumor microenvironment,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Indian cohort representation tracked explicitly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4096512"/>
            <a:ext cx="1371600" cy="32004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4352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Scoping phase review  ·  September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46817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Prof. Amit Das  ·  Biotechnology &amp; Biochemical Engineering, IIT Delhi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83880" y="184708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8" name="Shape 6"/>
          <p:cNvSpPr/>
          <p:nvPr/>
        </p:nvSpPr>
        <p:spPr>
          <a:xfrm>
            <a:off x="8636508" y="184708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9" name="Shape 7"/>
          <p:cNvSpPr/>
          <p:nvPr/>
        </p:nvSpPr>
        <p:spPr>
          <a:xfrm>
            <a:off x="9089136" y="184708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0" name="Shape 8"/>
          <p:cNvSpPr/>
          <p:nvPr/>
        </p:nvSpPr>
        <p:spPr>
          <a:xfrm>
            <a:off x="9541764" y="184708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1" name="Shape 9"/>
          <p:cNvSpPr/>
          <p:nvPr/>
        </p:nvSpPr>
        <p:spPr>
          <a:xfrm>
            <a:off x="9994392" y="184708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229971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508" y="2299716"/>
            <a:ext cx="384048" cy="384048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089136" y="2299716"/>
            <a:ext cx="384048" cy="384048"/>
          </a:xfrm>
          <a:prstGeom prst="rect">
            <a:avLst/>
          </a:prstGeom>
          <a:solidFill>
            <a:srgbClr val="FDE5C8"/>
          </a:solidFill>
          <a:ln/>
        </p:spPr>
      </p:sp>
      <p:sp>
        <p:nvSpPr>
          <p:cNvPr id="15" name="Shape 13"/>
          <p:cNvSpPr/>
          <p:nvPr/>
        </p:nvSpPr>
        <p:spPr>
          <a:xfrm>
            <a:off x="9541764" y="229971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6" name="Shape 14"/>
          <p:cNvSpPr/>
          <p:nvPr/>
        </p:nvSpPr>
        <p:spPr>
          <a:xfrm>
            <a:off x="9994392" y="229971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275234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508" y="2752344"/>
            <a:ext cx="384048" cy="384048"/>
          </a:xfrm>
          <a:prstGeom prst="rect">
            <a:avLst/>
          </a:prstGeom>
          <a:solidFill>
            <a:srgbClr val="FDE5C8"/>
          </a:solidFill>
          <a:ln/>
        </p:spPr>
      </p:sp>
      <p:sp>
        <p:nvSpPr>
          <p:cNvPr id="19" name="Shape 17"/>
          <p:cNvSpPr/>
          <p:nvPr/>
        </p:nvSpPr>
        <p:spPr>
          <a:xfrm>
            <a:off x="9089136" y="275234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1764" y="275234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994392" y="275234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3204972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6508" y="3204972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9136" y="3204972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5" name="Shape 23"/>
          <p:cNvSpPr/>
          <p:nvPr/>
        </p:nvSpPr>
        <p:spPr>
          <a:xfrm>
            <a:off x="9541764" y="3204972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6" name="Shape 24"/>
          <p:cNvSpPr/>
          <p:nvPr/>
        </p:nvSpPr>
        <p:spPr>
          <a:xfrm>
            <a:off x="9994392" y="3204972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0" y="3657600"/>
            <a:ext cx="384048" cy="384048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508" y="3657600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29" name="Shape 27"/>
          <p:cNvSpPr/>
          <p:nvPr/>
        </p:nvSpPr>
        <p:spPr>
          <a:xfrm>
            <a:off x="9089136" y="3657600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0" name="Shape 28"/>
          <p:cNvSpPr/>
          <p:nvPr/>
        </p:nvSpPr>
        <p:spPr>
          <a:xfrm>
            <a:off x="9541764" y="3657600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1" name="Shape 29"/>
          <p:cNvSpPr/>
          <p:nvPr/>
        </p:nvSpPr>
        <p:spPr>
          <a:xfrm>
            <a:off x="9994392" y="3657600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3880" y="411022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3" name="Shape 31"/>
          <p:cNvSpPr/>
          <p:nvPr/>
        </p:nvSpPr>
        <p:spPr>
          <a:xfrm>
            <a:off x="8636508" y="411022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4" name="Shape 32"/>
          <p:cNvSpPr/>
          <p:nvPr/>
        </p:nvSpPr>
        <p:spPr>
          <a:xfrm>
            <a:off x="9089136" y="411022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5" name="Shape 33"/>
          <p:cNvSpPr/>
          <p:nvPr/>
        </p:nvSpPr>
        <p:spPr>
          <a:xfrm>
            <a:off x="9541764" y="4110228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6" name="Shape 34"/>
          <p:cNvSpPr/>
          <p:nvPr/>
        </p:nvSpPr>
        <p:spPr>
          <a:xfrm>
            <a:off x="9994392" y="4110228"/>
            <a:ext cx="384048" cy="384048"/>
          </a:xfrm>
          <a:prstGeom prst="rect">
            <a:avLst/>
          </a:prstGeom>
          <a:solidFill>
            <a:srgbClr val="FDE5C8"/>
          </a:solidFill>
          <a:ln/>
        </p:spPr>
      </p:sp>
      <p:sp>
        <p:nvSpPr>
          <p:cNvPr id="37" name="Shape 35"/>
          <p:cNvSpPr/>
          <p:nvPr/>
        </p:nvSpPr>
        <p:spPr>
          <a:xfrm>
            <a:off x="8183880" y="4562856"/>
            <a:ext cx="384048" cy="384048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6508" y="456285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39" name="Shape 37"/>
          <p:cNvSpPr/>
          <p:nvPr/>
        </p:nvSpPr>
        <p:spPr>
          <a:xfrm>
            <a:off x="9089136" y="4562856"/>
            <a:ext cx="384048" cy="384048"/>
          </a:xfrm>
          <a:prstGeom prst="rect">
            <a:avLst/>
          </a:prstGeom>
          <a:solidFill>
            <a:srgbClr val="FDE5C8"/>
          </a:solidFill>
          <a:ln/>
        </p:spPr>
      </p:sp>
      <p:sp>
        <p:nvSpPr>
          <p:cNvPr id="40" name="Shape 38"/>
          <p:cNvSpPr/>
          <p:nvPr/>
        </p:nvSpPr>
        <p:spPr>
          <a:xfrm>
            <a:off x="9541764" y="456285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41" name="Shape 39"/>
          <p:cNvSpPr/>
          <p:nvPr/>
        </p:nvSpPr>
        <p:spPr>
          <a:xfrm>
            <a:off x="9994392" y="4562856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42" name="Shape 40"/>
          <p:cNvSpPr/>
          <p:nvPr/>
        </p:nvSpPr>
        <p:spPr>
          <a:xfrm>
            <a:off x="8183880" y="5015484"/>
            <a:ext cx="384048" cy="384048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43" name="Shape 41"/>
          <p:cNvSpPr/>
          <p:nvPr/>
        </p:nvSpPr>
        <p:spPr>
          <a:xfrm>
            <a:off x="8636508" y="501548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44" name="Shape 42"/>
          <p:cNvSpPr/>
          <p:nvPr/>
        </p:nvSpPr>
        <p:spPr>
          <a:xfrm>
            <a:off x="9089136" y="501548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45" name="Shape 43"/>
          <p:cNvSpPr/>
          <p:nvPr/>
        </p:nvSpPr>
        <p:spPr>
          <a:xfrm>
            <a:off x="9541764" y="5015484"/>
            <a:ext cx="384048" cy="384048"/>
          </a:xfrm>
          <a:prstGeom prst="rect">
            <a:avLst/>
          </a:prstGeom>
          <a:solidFill>
            <a:srgbClr val="2E2624"/>
          </a:solidFill>
          <a:ln/>
        </p:spPr>
      </p:sp>
      <p:sp>
        <p:nvSpPr>
          <p:cNvPr id="46" name="Shape 44"/>
          <p:cNvSpPr/>
          <p:nvPr/>
        </p:nvSpPr>
        <p:spPr>
          <a:xfrm>
            <a:off x="9994392" y="5015484"/>
            <a:ext cx="384048" cy="384048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47" name="Text 45"/>
          <p:cNvSpPr/>
          <p:nvPr/>
        </p:nvSpPr>
        <p:spPr>
          <a:xfrm>
            <a:off x="8183880" y="55412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A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factors × 5 tumor types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B3A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 of cells have no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a tumor that is not a cancer cell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categories, measured by completely different instruments — and they are not independent.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5074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12848"/>
            <a:ext cx="5074920" cy="8229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578608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61288" y="2889504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physical scaffold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1288" y="3401568"/>
            <a:ext cx="4306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Collagens · fibronectin · laminins · proteoglycans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MMPs, LOX and other remodelling enzymes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stiffness · fibre alignment · pore size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4553712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by  AFM · rheometry · picrosirius · mass spec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212848"/>
            <a:ext cx="5074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212848"/>
            <a:ext cx="5074920" cy="82296"/>
          </a:xfrm>
          <a:prstGeom prst="rect">
            <a:avLst/>
          </a:prstGeom>
          <a:solidFill>
            <a:srgbClr val="C25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2578608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9C4A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CHEMICAL / SOLUBLE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47688" y="2889504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fluid filling 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47688" y="3401568"/>
            <a:ext cx="4306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Extracellular pH · oxygen tension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Lactate, glucose and other metabolites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TGF-β, VEGF, IL-6 · hormones · fluid pressure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47688" y="4553712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by  microelectrode · CEST-MRI · IHC · ELISA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5504688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 coupled: the matrix sequesters growth factors and releases them on degradation, while acidity activates the enzymes that degrade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phase was scoping, not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came out of it that I want to check with you before building further.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49424"/>
            <a:ext cx="1063721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11096" y="2487168"/>
            <a:ext cx="9082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reference papers do not contain composition data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11096" y="2889504"/>
            <a:ext cx="9082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papers, not five — one link was duplicated. Concepts and taxonomy, no per-tumor-type numbers.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1063721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3858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11096" y="3785616"/>
            <a:ext cx="9082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TME data is strongly asymmetric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11096" y="4187952"/>
            <a:ext cx="9082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Hypoxia in oral cancer is covered. ECM characterisation is close to absent.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846320"/>
            <a:ext cx="1063721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5157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11096" y="5084064"/>
            <a:ext cx="9082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can be audited — and auditing changes the answer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11096" y="5486400"/>
            <a:ext cx="9082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cells failed the source check. Empty cells went from 62% to 78%.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starting papers are concepts, not numbers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supplied links resolve to four papers. One was duplicated.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235069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12848"/>
            <a:ext cx="2350694" cy="73152"/>
          </a:xfrm>
          <a:prstGeom prst="rect">
            <a:avLst/>
          </a:prstGeom>
          <a:solidFill>
            <a:srgbClr val="6E635E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2432304"/>
            <a:ext cx="18386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Dzobo &amp; Dandara 2023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33272" y="3090672"/>
            <a:ext cx="1838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ECM review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3639312"/>
            <a:ext cx="1838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39414" y="2212848"/>
            <a:ext cx="235069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9414" y="2212848"/>
            <a:ext cx="2350694" cy="73152"/>
          </a:xfrm>
          <a:prstGeom prst="rect">
            <a:avLst/>
          </a:prstGeom>
          <a:solidFill>
            <a:srgbClr val="6E635E"/>
          </a:solidFill>
          <a:ln/>
        </p:spPr>
      </p:sp>
      <p:sp>
        <p:nvSpPr>
          <p:cNvPr id="12" name="Text 10"/>
          <p:cNvSpPr/>
          <p:nvPr/>
        </p:nvSpPr>
        <p:spPr>
          <a:xfrm>
            <a:off x="3795446" y="2432304"/>
            <a:ext cx="18386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Kamal et al. 2026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95446" y="3090672"/>
            <a:ext cx="1838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ECM–epigenetics crosstalk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5446" y="3639312"/>
            <a:ext cx="1838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1588" y="2212848"/>
            <a:ext cx="235069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1588" y="2212848"/>
            <a:ext cx="2350694" cy="73152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7" name="Text 15"/>
          <p:cNvSpPr/>
          <p:nvPr/>
        </p:nvSpPr>
        <p:spPr>
          <a:xfrm>
            <a:off x="6557620" y="2432304"/>
            <a:ext cx="18386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Byrne et al. 2021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57620" y="3090672"/>
            <a:ext cx="1838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bench study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57620" y="3639312"/>
            <a:ext cx="1838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3761" y="2212848"/>
            <a:ext cx="235069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3761" y="2212848"/>
            <a:ext cx="2350694" cy="73152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22" name="Text 20"/>
          <p:cNvSpPr/>
          <p:nvPr/>
        </p:nvSpPr>
        <p:spPr>
          <a:xfrm>
            <a:off x="9319793" y="2432304"/>
            <a:ext cx="18386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iScience, unidentified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19793" y="3090672"/>
            <a:ext cx="1838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does not resolve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9793" y="3639312"/>
            <a:ext cx="18386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6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4352544"/>
            <a:ext cx="10637215" cy="1463040"/>
          </a:xfrm>
          <a:prstGeom prst="rect">
            <a:avLst/>
          </a:prstGeom>
          <a:solidFill>
            <a:srgbClr val="1C1614"/>
          </a:solidFill>
          <a:ln/>
        </p:spPr>
      </p:sp>
      <p:sp>
        <p:nvSpPr>
          <p:cNvPr id="26" name="Text 24"/>
          <p:cNvSpPr/>
          <p:nvPr/>
        </p:nvSpPr>
        <p:spPr>
          <a:xfrm>
            <a:off x="1161288" y="4553712"/>
            <a:ext cx="9869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one substantive result worth stating aloud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61288" y="4882896"/>
            <a:ext cx="98691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8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Collagen I was higher in ER+/PGR+ breast tumors than in triple-negative — the opposite of the naive expectation. Matrix composition changed drug sensitivity without changing proliferation.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925312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Per-tumor-type numbers have to come from TCGA, CPTAC, MatrisomeDB and primary measurement papers. Confirm that is the intended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TME data is strongly asymmetric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search across tumor types and factor categories, September 2026.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1063721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1408"/>
            <a:ext cx="68580" cy="896112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Hypoxia / HIF-1α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24140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2395728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OSCC IHC studies, incl. Northeast India; HIF1 in gallbladder proteomics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1063721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00400"/>
            <a:ext cx="68580" cy="896112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12" name="Text 10"/>
          <p:cNvSpPr/>
          <p:nvPr/>
        </p:nvSpPr>
        <p:spPr>
          <a:xfrm>
            <a:off x="1161288" y="3456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ECM / matrisome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34930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A6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NEAR-ABSENT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474720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one gallbladder proteomics study (ICMR-NIP Delhi)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279392"/>
            <a:ext cx="1063721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279392"/>
            <a:ext cx="68580" cy="896112"/>
          </a:xfrm>
          <a:prstGeom prst="rect">
            <a:avLst/>
          </a:prstGeom>
          <a:solidFill>
            <a:srgbClr val="6E635E"/>
          </a:solidFill>
          <a:ln/>
        </p:spPr>
      </p:sp>
      <p:sp>
        <p:nvSpPr>
          <p:cNvPr id="17" name="Text 15"/>
          <p:cNvSpPr/>
          <p:nvPr/>
        </p:nvSpPr>
        <p:spPr>
          <a:xfrm>
            <a:off x="1161288" y="4535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 · lactate · stiffness · IFP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80560" y="45720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FOUND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4553712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measurement study identified for any of the four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5449824"/>
            <a:ext cx="10637215" cy="859536"/>
          </a:xfrm>
          <a:prstGeom prst="rect">
            <a:avLst/>
          </a:prstGeom>
          <a:solidFill>
            <a:srgbClr val="F5EBEB"/>
          </a:solidFill>
          <a:ln w="12700">
            <a:solidFill>
              <a:srgbClr val="E3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5596128"/>
            <a:ext cx="9869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“Indian data” is not one category.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1288" y="5925312"/>
            <a:ext cx="9448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Northeast India OSCC study notes that population is genetically closer to East Asian groups than to other Indian regions. Regional structure within India may matter.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grid got emptier under scrutiny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non-empty cell was checked against the source list of its own factor entry.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8E8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77240" y="3273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audit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383280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cells have no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877056"/>
            <a:ext cx="5760720" cy="18288"/>
          </a:xfrm>
          <a:prstGeom prst="rect">
            <a:avLst/>
          </a:prstGeom>
          <a:solidFill>
            <a:srgbClr val="3A302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7822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cells were coded as having evidence with no source recorded in the entry. They were reset to none. One cell had an Indian source recorded but was not flagged; corrected.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06577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A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number that went up under scrutiny is worth more than one that was never scrutinised.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2286000"/>
            <a:ext cx="3977640" cy="2926080"/>
          </a:xfrm>
          <a:prstGeom prst="rect">
            <a:avLst/>
          </a:prstGeom>
          <a:solidFill>
            <a:srgbClr val="241D1B"/>
          </a:solidFill>
          <a:ln w="12700">
            <a:solidFill>
              <a:srgbClr val="3A3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542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RULE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28712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may only be coded above “none” if a source has been read and recorded in that factor entry.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18120" y="387705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deletions. Each cell is restored the moment a source is read and added. The audit trail is in the repository, cell by cell, with reasons.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published map of this kind exists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TME evidence coverage map is published, and none tracking Indian representation.</a:t>
            </a:r>
            <a:endParaRPr lang="en-US" sz="1450" dirty="0"/>
          </a:p>
        </p:txBody>
      </p:sp>
      <p:pic>
        <p:nvPicPr>
          <p:cNvPr id="5" name="Image 0" descr="C:\VOLUME_D\BTP\figures\coverage-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92224"/>
            <a:ext cx="6766560" cy="4636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9751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01000" y="2615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cells empty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01000" y="320040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00100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 Indian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01000" y="442569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001000" y="5065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cells for cervical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01000" y="5596128"/>
            <a:ext cx="3383280" cy="18288"/>
          </a:xfrm>
          <a:prstGeom prst="rect">
            <a:avLst/>
          </a:prstGeom>
          <a:solidFill>
            <a:srgbClr val="E6DFDA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574243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data is itself the result.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DERIVED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factors are at zero everywhere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grid, broken down by factor and by tumor type.</a:t>
            </a:r>
            <a:endParaRPr lang="en-US" sz="1450" dirty="0"/>
          </a:p>
        </p:txBody>
      </p:sp>
      <p:pic>
        <p:nvPicPr>
          <p:cNvPr id="5" name="Image 0" descr="C:\VOLUME_D\BTP\figures\coverage-by-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539496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755648"/>
            <a:ext cx="48006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29400" y="1755648"/>
            <a:ext cx="64008" cy="131673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1975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Extracellular pH and TGF-β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3591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sourced evidence in any tumor type. Both have large literatures — the gap is reading, not biology.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29400" y="3346704"/>
            <a:ext cx="48006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3346704"/>
            <a:ext cx="64008" cy="131673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transcript-level evidence survives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49440" y="395020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cell is direct or inferred. The tier cheapest to fill from public data is the emptiest.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29400" y="4937760"/>
            <a:ext cx="48006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9400" y="4937760"/>
            <a:ext cx="64008" cy="131673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0" y="51572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index: 16%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49440" y="554126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cells 0–3 by evidence strength, the grid holds one sixth of what full characterisation would give.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LARGEST MISMATCH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burden, zero coverage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cancer is the second most common cancer among Indian women — and has no characterised factor in this atlas.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23849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2432304"/>
            <a:ext cx="1909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127,526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14984" y="3127248"/>
            <a:ext cx="1909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in India, 2022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7984" y="2212848"/>
            <a:ext cx="23849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5728" y="2432304"/>
            <a:ext cx="1909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79,906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65728" y="3127248"/>
            <a:ext cx="1909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2212848"/>
            <a:ext cx="238498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6472" y="2432304"/>
            <a:ext cx="1909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16472" y="3127248"/>
            <a:ext cx="1909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100,000, age-standardised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9471" y="2212848"/>
            <a:ext cx="2384984" cy="1572768"/>
          </a:xfrm>
          <a:prstGeom prst="rect">
            <a:avLst/>
          </a:prstGeom>
          <a:solidFill>
            <a:srgbClr val="1C1614"/>
          </a:solidFill>
          <a:ln w="12700">
            <a:solidFill>
              <a:srgbClr val="1C16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7215" y="2432304"/>
            <a:ext cx="1909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A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of 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67215" y="3127248"/>
            <a:ext cx="1909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characterised 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5020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Singh, Grover &amp; Dhanasekaran 2025, Global Epidemiology 10:100233, PMID 41399754  ·  GLOBOCAN 2022 derived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517136"/>
            <a:ext cx="10637215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517136"/>
            <a:ext cx="10637215" cy="73152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1288" y="475488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is the cheapest column to fill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61288" y="5138928"/>
            <a:ext cx="98142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Indian cervical datasets are already inventoried — stage-wise expression profiling with documented purity screening (PMC3892388) and whole-exome sequencing from ACTREC/Tata Memorial (PMC5102491). The transcript-level cells in this column are fillable from existing data, without new experiments.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experiments a lab could run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surfaced by the coverage gap, and both within reach of a biochemical engineering lab.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5090008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12848"/>
            <a:ext cx="5090008" cy="8229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871216"/>
            <a:ext cx="4358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stiffness on Indian tumor tissue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657600"/>
            <a:ext cx="4358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AFM, rheometry or elastography characterisation of Indian tumor tissue exists — anywhere, for any cancer type. This is not a gap in the atlas; it is a gap in the literature.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143000" y="4700016"/>
            <a:ext cx="4358488" cy="13716"/>
          </a:xfrm>
          <a:prstGeom prst="rect">
            <a:avLst/>
          </a:prstGeom>
          <a:solidFill>
            <a:srgbClr val="E6DFD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28032"/>
            <a:ext cx="435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biomaterials-lab equipment. Genuinely novel data rather than a literature fill.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24448" y="2212848"/>
            <a:ext cx="5090008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DF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2212848"/>
            <a:ext cx="5090008" cy="82296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4" name="Text 12"/>
          <p:cNvSpPr/>
          <p:nvPr/>
        </p:nvSpPr>
        <p:spPr>
          <a:xfrm>
            <a:off x="669020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90208" y="2871216"/>
            <a:ext cx="4358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the Byrne finding in an Indian cohort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90208" y="3657600"/>
            <a:ext cx="4358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A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Byrne et al. found collagen I higher in ER+/PGR+ than triple-negative breast tumors. ICGA holds an ER+/PR+ Indian cohort with proteomics.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90208" y="4700016"/>
            <a:ext cx="4358488" cy="13716"/>
          </a:xfrm>
          <a:prstGeom prst="rect">
            <a:avLst/>
          </a:prstGeom>
          <a:solidFill>
            <a:srgbClr val="E6DFDA"/>
          </a:solidFill>
          <a:ln/>
        </p:spPr>
      </p:sp>
      <p:sp>
        <p:nvSpPr>
          <p:cNvPr id="18" name="Text 16"/>
          <p:cNvSpPr/>
          <p:nvPr/>
        </p:nvSpPr>
        <p:spPr>
          <a:xfrm>
            <a:off x="6690208" y="4828032"/>
            <a:ext cx="435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breast cancer presents at younger age — a different hormonal microenvironment. Whether the finding replicates is a well-posed question.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852160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proposal: 15 factors across 8 tumor types, written to full schema depth — rather than everything shallowly.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 NEED FROM YOU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773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E96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2276856"/>
            <a:ext cx="146304" cy="41148"/>
          </a:xfrm>
          <a:prstGeom prst="rect">
            <a:avLst/>
          </a:prstGeom>
          <a:solidFill>
            <a:srgbClr val="E9647A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130552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title of the iScience paper? The PII does not resolve through search or Crossref.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752344"/>
            <a:ext cx="146304" cy="41148"/>
          </a:xfrm>
          <a:prstGeom prst="rect">
            <a:avLst/>
          </a:prstGeom>
          <a:solidFill>
            <a:srgbClr val="E9647A"/>
          </a:solidFill>
          <a:ln/>
        </p:spPr>
      </p:sp>
      <p:sp>
        <p:nvSpPr>
          <p:cNvPr id="8" name="Text 6"/>
          <p:cNvSpPr/>
          <p:nvPr/>
        </p:nvSpPr>
        <p:spPr>
          <a:xfrm>
            <a:off x="1161288" y="260604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downstream user — your lab’s modelling and experimental work, or a standalone resource?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3227832"/>
            <a:ext cx="146304" cy="41148"/>
          </a:xfrm>
          <a:prstGeom prst="rect">
            <a:avLst/>
          </a:prstGeom>
          <a:solidFill>
            <a:srgbClr val="E9647A"/>
          </a:solidFill>
          <a:ln/>
        </p:spPr>
      </p:sp>
      <p:sp>
        <p:nvSpPr>
          <p:cNvPr id="10" name="Text 8"/>
          <p:cNvSpPr/>
          <p:nvPr/>
        </p:nvSpPr>
        <p:spPr>
          <a:xfrm>
            <a:off x="1161288" y="3081528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tumor types should I prioritise?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F4A5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416552"/>
            <a:ext cx="146304" cy="41148"/>
          </a:xfrm>
          <a:prstGeom prst="rect">
            <a:avLst/>
          </a:prstGeom>
          <a:solidFill>
            <a:srgbClr val="F4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" y="4270248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Izzi et al. 2019 did pan-cancer matrisome across 32 TCGA tumor types. What is our contribution beyond it?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892040"/>
            <a:ext cx="146304" cy="41148"/>
          </a:xfrm>
          <a:prstGeom prst="rect">
            <a:avLst/>
          </a:prstGeom>
          <a:solidFill>
            <a:srgbClr val="F4A5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" y="4745736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Indian ECM data is nearly absent, should Indian cohorts be validation and gap analysis rather than a data source?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240" y="5367528"/>
            <a:ext cx="146304" cy="41148"/>
          </a:xfrm>
          <a:prstGeom prst="rect">
            <a:avLst/>
          </a:prstGeom>
          <a:solidFill>
            <a:srgbClr val="F4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1161288" y="5221224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right depth per entry?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5669280"/>
            <a:ext cx="10637215" cy="13716"/>
          </a:xfrm>
          <a:prstGeom prst="rect">
            <a:avLst/>
          </a:prstGeom>
          <a:solidFill>
            <a:srgbClr val="3A302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833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Logistics: institutional access for ICGA data requests and paywalled journals. Requests take weeks.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2615" y="6254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github.com/maan-iitd2/tme-atlas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TME Atlas</dc:title>
  <dc:subject>PptxGenJS Presentation</dc:subject>
  <dc:creator>maan-iitd2</dc:creator>
  <cp:lastModifiedBy>maan-iitd2</cp:lastModifiedBy>
  <cp:revision>1</cp:revision>
  <dcterms:created xsi:type="dcterms:W3CDTF">2026-09-06T21:14:01Z</dcterms:created>
  <dcterms:modified xsi:type="dcterms:W3CDTF">2026-09-06T21:14:01Z</dcterms:modified>
</cp:coreProperties>
</file>